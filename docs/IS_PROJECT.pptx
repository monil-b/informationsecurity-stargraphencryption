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05" autoAdjust="0"/>
  </p:normalViewPr>
  <p:slideViewPr>
    <p:cSldViewPr>
      <p:cViewPr varScale="1">
        <p:scale>
          <a:sx n="167" d="100"/>
          <a:sy n="167" d="100"/>
        </p:scale>
        <p:origin x="802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4388" y="133055"/>
            <a:ext cx="20554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C26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C26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C26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C26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388" y="133055"/>
            <a:ext cx="29229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C26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6621" y="836191"/>
            <a:ext cx="2428875" cy="163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089" y="3125241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3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89/fcomp.2024.145409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565" y="874967"/>
            <a:ext cx="3930015" cy="798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7400"/>
              </a:lnSpc>
              <a:spcBef>
                <a:spcPts val="95"/>
              </a:spcBef>
            </a:pPr>
            <a:r>
              <a:rPr sz="1700" spc="-45" dirty="0"/>
              <a:t>Secure</a:t>
            </a:r>
            <a:r>
              <a:rPr sz="1700" spc="65" dirty="0"/>
              <a:t> </a:t>
            </a:r>
            <a:r>
              <a:rPr sz="1700" dirty="0"/>
              <a:t>Data</a:t>
            </a:r>
            <a:r>
              <a:rPr sz="1700" spc="65" dirty="0"/>
              <a:t> </a:t>
            </a:r>
            <a:r>
              <a:rPr sz="1700" spc="-35" dirty="0"/>
              <a:t>Transfer</a:t>
            </a:r>
            <a:r>
              <a:rPr sz="1700" spc="65" dirty="0"/>
              <a:t> </a:t>
            </a:r>
            <a:r>
              <a:rPr sz="1700" spc="-65" dirty="0"/>
              <a:t>using</a:t>
            </a:r>
            <a:r>
              <a:rPr sz="1700" spc="70" dirty="0"/>
              <a:t> </a:t>
            </a:r>
            <a:r>
              <a:rPr sz="1700" dirty="0"/>
              <a:t>Star</a:t>
            </a:r>
            <a:r>
              <a:rPr sz="1700" spc="65" dirty="0"/>
              <a:t> </a:t>
            </a:r>
            <a:r>
              <a:rPr sz="1700" spc="-45" dirty="0"/>
              <a:t>Graph </a:t>
            </a:r>
            <a:r>
              <a:rPr sz="1700" spc="-10" dirty="0"/>
              <a:t>Encryption</a:t>
            </a:r>
            <a:endParaRPr sz="1700"/>
          </a:p>
          <a:p>
            <a:pPr marL="635" algn="ctr">
              <a:lnSpc>
                <a:spcPct val="100000"/>
              </a:lnSpc>
              <a:spcBef>
                <a:spcPts val="390"/>
              </a:spcBef>
            </a:pPr>
            <a:r>
              <a:rPr sz="1100" dirty="0"/>
              <a:t>A</a:t>
            </a:r>
            <a:r>
              <a:rPr sz="1100" spc="5" dirty="0"/>
              <a:t> </a:t>
            </a:r>
            <a:r>
              <a:rPr sz="1100" spc="-10" dirty="0"/>
              <a:t>Novel</a:t>
            </a:r>
            <a:r>
              <a:rPr sz="1100" spc="5" dirty="0"/>
              <a:t> </a:t>
            </a:r>
            <a:r>
              <a:rPr sz="1100" spc="-30" dirty="0"/>
              <a:t>Graph</a:t>
            </a:r>
            <a:r>
              <a:rPr sz="1100" spc="5" dirty="0"/>
              <a:t> </a:t>
            </a:r>
            <a:r>
              <a:rPr sz="1100" spc="-20" dirty="0"/>
              <a:t>Theory</a:t>
            </a:r>
            <a:r>
              <a:rPr sz="1100" spc="5" dirty="0"/>
              <a:t> </a:t>
            </a:r>
            <a:r>
              <a:rPr sz="1100" spc="-45" dirty="0"/>
              <a:t>Based</a:t>
            </a:r>
            <a:r>
              <a:rPr sz="1100" spc="5" dirty="0"/>
              <a:t> </a:t>
            </a:r>
            <a:r>
              <a:rPr sz="1100" spc="-10" dirty="0"/>
              <a:t>Approach</a:t>
            </a:r>
            <a:endParaRPr sz="1100"/>
          </a:p>
        </p:txBody>
      </p:sp>
      <p:sp>
        <p:nvSpPr>
          <p:cNvPr id="3" name="object 3"/>
          <p:cNvSpPr txBox="1"/>
          <p:nvPr/>
        </p:nvSpPr>
        <p:spPr>
          <a:xfrm>
            <a:off x="1922208" y="1910356"/>
            <a:ext cx="1916430" cy="10909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02235" marR="95250" indent="443230">
              <a:lnSpc>
                <a:spcPts val="1390"/>
              </a:lnSpc>
              <a:spcBef>
                <a:spcPts val="180"/>
              </a:spcBef>
            </a:pPr>
            <a:r>
              <a:rPr sz="1200" spc="-55" dirty="0">
                <a:latin typeface="Tahoma"/>
                <a:cs typeface="Tahoma"/>
              </a:rPr>
              <a:t>Presented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By </a:t>
            </a:r>
            <a:r>
              <a:rPr sz="1200" spc="-50" dirty="0">
                <a:latin typeface="Tahoma"/>
                <a:cs typeface="Tahoma"/>
              </a:rPr>
              <a:t>Raghav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Kumar</a:t>
            </a:r>
            <a:r>
              <a:rPr sz="1200" spc="-25" dirty="0">
                <a:latin typeface="Tahoma"/>
                <a:cs typeface="Tahoma"/>
              </a:rPr>
              <a:t> (23BIT073) </a:t>
            </a:r>
            <a:r>
              <a:rPr sz="1200" dirty="0">
                <a:latin typeface="Tahoma"/>
                <a:cs typeface="Tahoma"/>
              </a:rPr>
              <a:t>Monil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Babariya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(23BIT074)</a:t>
            </a:r>
            <a:endParaRPr sz="1200">
              <a:latin typeface="Tahoma"/>
              <a:cs typeface="Tahoma"/>
            </a:endParaRPr>
          </a:p>
          <a:p>
            <a:pPr marL="273050" marR="5080" indent="-260985">
              <a:lnSpc>
                <a:spcPts val="1390"/>
              </a:lnSpc>
              <a:spcBef>
                <a:spcPts val="15"/>
              </a:spcBef>
            </a:pPr>
            <a:r>
              <a:rPr sz="1200" spc="-55" dirty="0">
                <a:latin typeface="Tahoma"/>
                <a:cs typeface="Tahoma"/>
              </a:rPr>
              <a:t>Harshal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Gondaliya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(23BIT077) </a:t>
            </a:r>
            <a:r>
              <a:rPr sz="1200" dirty="0">
                <a:latin typeface="Tahoma"/>
                <a:cs typeface="Tahoma"/>
              </a:rPr>
              <a:t>Om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Rana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(23BIT080)</a:t>
            </a:r>
            <a:endParaRPr sz="1200">
              <a:latin typeface="Tahoma"/>
              <a:cs typeface="Tahoma"/>
            </a:endParaRPr>
          </a:p>
          <a:p>
            <a:pPr marL="240029">
              <a:lnSpc>
                <a:spcPct val="100000"/>
              </a:lnSpc>
              <a:spcBef>
                <a:spcPts val="384"/>
              </a:spcBef>
            </a:pPr>
            <a:r>
              <a:rPr sz="800" spc="-10" dirty="0">
                <a:latin typeface="Tahoma"/>
                <a:cs typeface="Tahoma"/>
              </a:rPr>
              <a:t>Information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Security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Lab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Project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5900" y="465623"/>
            <a:ext cx="1629410" cy="27257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7170" indent="-20447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17170" algn="l"/>
              </a:tabLst>
            </a:pP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sz="1200" b="1" spc="-10" dirty="0" smtClean="0">
                <a:solidFill>
                  <a:srgbClr val="0C2659"/>
                </a:solidFill>
                <a:latin typeface="Arial"/>
                <a:cs typeface="Arial"/>
                <a:hlinkClick r:id="rId3" action="ppaction://hlinksldjump"/>
              </a:rPr>
              <a:t>Motivation</a:t>
            </a:r>
            <a:endParaRPr lang="en-IN" sz="1200" b="1" spc="-10" dirty="0" smtClean="0">
              <a:solidFill>
                <a:srgbClr val="0C2659"/>
              </a:solidFill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lang="en-IN" sz="1200" b="1" dirty="0" smtClean="0">
                <a:solidFill>
                  <a:srgbClr val="0C2659"/>
                </a:solidFill>
                <a:latin typeface="Arial"/>
                <a:cs typeface="Arial"/>
                <a:hlinkClick r:id="rId4" action="ppaction://hlinksldjump"/>
              </a:rPr>
              <a:t>Aim</a:t>
            </a:r>
            <a:endParaRPr lang="en-IN" sz="1200" b="1" dirty="0" smtClean="0">
              <a:solidFill>
                <a:srgbClr val="0C2659"/>
              </a:solidFill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lang="en-IN" sz="1200" b="1" u="sng" dirty="0" smtClean="0">
                <a:solidFill>
                  <a:srgbClr val="0C2659"/>
                </a:solidFill>
                <a:latin typeface="Arial"/>
                <a:cs typeface="Arial"/>
              </a:rPr>
              <a:t>Program structure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sz="1200" b="1" spc="-35" dirty="0">
                <a:solidFill>
                  <a:srgbClr val="0C2659"/>
                </a:solidFill>
                <a:latin typeface="Arial"/>
                <a:cs typeface="Arial"/>
                <a:hlinkClick r:id="rId5" action="ppaction://hlinksldjump"/>
              </a:rPr>
              <a:t>Encryption</a:t>
            </a:r>
            <a:r>
              <a:rPr sz="1200" b="1" spc="10" dirty="0">
                <a:solidFill>
                  <a:srgbClr val="0C265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5" action="ppaction://hlinksldjump"/>
              </a:rPr>
              <a:t>Process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217170" algn="l"/>
              </a:tabLst>
            </a:pPr>
            <a:r>
              <a:rPr sz="1200" b="1" spc="-25" dirty="0">
                <a:solidFill>
                  <a:srgbClr val="0C2659"/>
                </a:solidFill>
                <a:latin typeface="Arial"/>
                <a:cs typeface="Arial"/>
                <a:hlinkClick r:id="rId6" action="ppaction://hlinksldjump"/>
              </a:rPr>
              <a:t>Decryption</a:t>
            </a:r>
            <a:r>
              <a:rPr sz="1200" b="1" spc="40" dirty="0">
                <a:solidFill>
                  <a:srgbClr val="0C265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6" action="ppaction://hlinksldjump"/>
              </a:rPr>
              <a:t>Process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7" action="ppaction://hlinksldjump"/>
              </a:rPr>
              <a:t>Applications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217170" algn="l"/>
              </a:tabLst>
            </a:pP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8" action="ppaction://hlinksldjump"/>
              </a:rPr>
              <a:t>Advantages</a:t>
            </a:r>
            <a:endParaRPr sz="1200" dirty="0">
              <a:latin typeface="Arial"/>
              <a:cs typeface="Arial"/>
            </a:endParaRPr>
          </a:p>
          <a:p>
            <a:pPr marL="217170" indent="-204470">
              <a:lnSpc>
                <a:spcPct val="100000"/>
              </a:lnSpc>
              <a:spcBef>
                <a:spcPts val="1050"/>
              </a:spcBef>
              <a:buAutoNum type="arabicPeriod"/>
              <a:tabLst>
                <a:tab pos="217170" algn="l"/>
              </a:tabLst>
            </a:pPr>
            <a:r>
              <a:rPr sz="1200" b="1" spc="-10" dirty="0">
                <a:solidFill>
                  <a:srgbClr val="0C2659"/>
                </a:solidFill>
                <a:latin typeface="Arial"/>
                <a:cs typeface="Arial"/>
                <a:hlinkClick r:id="rId9" action="ppaction://hlinksldjump"/>
              </a:rPr>
              <a:t>Conclusion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88" y="133055"/>
            <a:ext cx="2922905" cy="215444"/>
          </a:xfrm>
        </p:spPr>
        <p:txBody>
          <a:bodyPr/>
          <a:lstStyle/>
          <a:p>
            <a:r>
              <a:rPr lang="en-IN" spc="-10" dirty="0"/>
              <a:t>Motivation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700" y="513107"/>
            <a:ext cx="5486400" cy="2633318"/>
          </a:xfrm>
        </p:spPr>
        <p:txBody>
          <a:bodyPr/>
          <a:lstStyle/>
          <a:p>
            <a:r>
              <a:rPr lang="en-IN" dirty="0">
                <a:latin typeface="Tomorrow" panose="020B0604020202020204" charset="0"/>
              </a:rPr>
              <a:t>Research Reference</a:t>
            </a:r>
          </a:p>
          <a:p>
            <a:endParaRPr lang="en-IN" dirty="0">
              <a:latin typeface="Tomorrow" panose="020B0604020202020204" charset="0"/>
            </a:endParaRPr>
          </a:p>
          <a:p>
            <a:r>
              <a:rPr lang="en-IN" dirty="0">
                <a:latin typeface="Tomorrow" panose="020B0604020202020204" charset="0"/>
              </a:rPr>
              <a:t>The paper introduces Corona, Complete Bipartite, and Star Graph (Kₙ₊₁ = K₁ </a:t>
            </a:r>
            <a:r>
              <a:rPr lang="el-GR" dirty="0"/>
              <a:t>ε </a:t>
            </a:r>
            <a:r>
              <a:rPr lang="en-IN" dirty="0">
                <a:latin typeface="Tomorrow" panose="020B0604020202020204" charset="0"/>
              </a:rPr>
              <a:t>Kₙ) encryption schemes.</a:t>
            </a:r>
          </a:p>
          <a:p>
            <a:r>
              <a:rPr lang="en-IN" dirty="0">
                <a:latin typeface="Tomorrow" panose="020B0604020202020204" charset="0"/>
              </a:rPr>
              <a:t>Our work implements the Star Graph Encryption model (Section 5) for practical visualization and prime-based encoding in MATLAB.</a:t>
            </a:r>
          </a:p>
          <a:p>
            <a:endParaRPr lang="en-IN" dirty="0">
              <a:latin typeface="Tomorrow" panose="020B0604020202020204" charset="0"/>
            </a:endParaRPr>
          </a:p>
          <a:p>
            <a:r>
              <a:rPr lang="en-IN" dirty="0">
                <a:latin typeface="Tomorrow" panose="020B0604020202020204" charset="0"/>
              </a:rPr>
              <a:t>Inspired by:</a:t>
            </a:r>
            <a:br>
              <a:rPr lang="en-IN" dirty="0">
                <a:latin typeface="Tomorrow" panose="020B0604020202020204" charset="0"/>
              </a:rPr>
            </a:br>
            <a:r>
              <a:rPr lang="en-IN" dirty="0">
                <a:latin typeface="Tomorrow" panose="020B0604020202020204" charset="0"/>
              </a:rPr>
              <a:t>Ali, N. et al. (2024). </a:t>
            </a:r>
            <a:r>
              <a:rPr lang="en-IN" i="1" dirty="0">
                <a:latin typeface="Tomorrow" panose="020B0604020202020204" charset="0"/>
              </a:rPr>
              <a:t>“Secure Communication in the Digital Age: A New Paradigm with Graph-Based Encryption Algorithms.”</a:t>
            </a:r>
            <a:r>
              <a:rPr lang="en-IN" dirty="0">
                <a:latin typeface="Tomorrow" panose="020B0604020202020204" charset="0"/>
              </a:rPr>
              <a:t/>
            </a:r>
            <a:br>
              <a:rPr lang="en-IN" dirty="0">
                <a:latin typeface="Tomorrow" panose="020B0604020202020204" charset="0"/>
              </a:rPr>
            </a:br>
            <a:r>
              <a:rPr lang="en-IN" i="1" dirty="0">
                <a:latin typeface="Tomorrow" panose="020B0604020202020204" charset="0"/>
              </a:rPr>
              <a:t>Frontiers in Computer Science</a:t>
            </a:r>
            <a:r>
              <a:rPr lang="en-IN" dirty="0">
                <a:latin typeface="Tomorrow" panose="020B0604020202020204" charset="0"/>
              </a:rPr>
              <a:t>, 6, 1454094.</a:t>
            </a:r>
          </a:p>
          <a:p>
            <a:r>
              <a:rPr lang="en-IN" dirty="0">
                <a:latin typeface="Tomorrow" panose="020B0604020202020204" charset="0"/>
              </a:rPr>
              <a:t/>
            </a:r>
            <a:br>
              <a:rPr lang="en-IN" dirty="0">
                <a:latin typeface="Tomorrow" panose="020B0604020202020204" charset="0"/>
              </a:rPr>
            </a:br>
            <a:r>
              <a:rPr lang="en-IN" dirty="0">
                <a:latin typeface="Tomorrow" panose="020B0604020202020204" charset="0"/>
              </a:rPr>
              <a:t>DOI: </a:t>
            </a:r>
            <a:r>
              <a:rPr lang="en-IN" dirty="0">
                <a:latin typeface="Tomorrow" panose="020B0604020202020204" charset="0"/>
                <a:hlinkClick r:id="rId2"/>
              </a:rPr>
              <a:t>10.3389/fcomp.2024.1454094</a:t>
            </a:r>
            <a:endParaRPr lang="en-IN" dirty="0">
              <a:latin typeface="Tomorrow" panose="020B0604020202020204" charset="0"/>
            </a:endParaRPr>
          </a:p>
          <a:p>
            <a:endParaRPr lang="en-IN" dirty="0"/>
          </a:p>
        </p:txBody>
      </p:sp>
      <p:sp>
        <p:nvSpPr>
          <p:cNvPr id="4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810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88" y="133055"/>
            <a:ext cx="29229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mtClean="0"/>
              <a:t>Aim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6287" y="824648"/>
            <a:ext cx="5307965" cy="594995"/>
            <a:chOff x="226287" y="824648"/>
            <a:chExt cx="5307965" cy="594995"/>
          </a:xfrm>
        </p:grpSpPr>
        <p:sp>
          <p:nvSpPr>
            <p:cNvPr id="5" name="object 5"/>
            <p:cNvSpPr/>
            <p:nvPr/>
          </p:nvSpPr>
          <p:spPr>
            <a:xfrm>
              <a:off x="226287" y="824648"/>
              <a:ext cx="5307965" cy="198755"/>
            </a:xfrm>
            <a:custGeom>
              <a:avLst/>
              <a:gdLst/>
              <a:ahLst/>
              <a:cxnLst/>
              <a:rect l="l" t="t" r="r" b="b"/>
              <a:pathLst>
                <a:path w="5307965" h="198755">
                  <a:moveTo>
                    <a:pt x="525668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307485" y="198367"/>
                  </a:lnTo>
                  <a:lnTo>
                    <a:pt x="5307485" y="50800"/>
                  </a:lnTo>
                  <a:lnTo>
                    <a:pt x="5303476" y="31075"/>
                  </a:lnTo>
                  <a:lnTo>
                    <a:pt x="5292562" y="14922"/>
                  </a:lnTo>
                  <a:lnTo>
                    <a:pt x="5276409" y="4008"/>
                  </a:lnTo>
                  <a:lnTo>
                    <a:pt x="5256684" y="0"/>
                  </a:lnTo>
                  <a:close/>
                </a:path>
              </a:pathLst>
            </a:custGeom>
            <a:solidFill>
              <a:srgbClr val="035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87" y="1010373"/>
              <a:ext cx="5307484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287" y="1054644"/>
              <a:ext cx="5307965" cy="365125"/>
            </a:xfrm>
            <a:custGeom>
              <a:avLst/>
              <a:gdLst/>
              <a:ahLst/>
              <a:cxnLst/>
              <a:rect l="l" t="t" r="r" b="b"/>
              <a:pathLst>
                <a:path w="5307965" h="365125">
                  <a:moveTo>
                    <a:pt x="5307485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256684" y="364962"/>
                  </a:lnTo>
                  <a:lnTo>
                    <a:pt x="5276409" y="360953"/>
                  </a:lnTo>
                  <a:lnTo>
                    <a:pt x="5292562" y="350039"/>
                  </a:lnTo>
                  <a:lnTo>
                    <a:pt x="5303476" y="333886"/>
                  </a:lnTo>
                  <a:lnTo>
                    <a:pt x="5307485" y="314161"/>
                  </a:lnTo>
                  <a:lnTo>
                    <a:pt x="530748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1688" y="760856"/>
            <a:ext cx="5281295" cy="1871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ahoma"/>
                <a:cs typeface="Tahoma"/>
              </a:rPr>
              <a:t>Aim</a:t>
            </a:r>
            <a:endParaRPr sz="1200">
              <a:latin typeface="Tahoma"/>
              <a:cs typeface="Tahoma"/>
            </a:endParaRPr>
          </a:p>
          <a:p>
            <a:pPr marL="25400" marR="291465">
              <a:lnSpc>
                <a:spcPct val="102600"/>
              </a:lnSpc>
              <a:spcBef>
                <a:spcPts val="26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implement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demonstrate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secure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encryption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technique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 </a:t>
            </a:r>
            <a:r>
              <a:rPr sz="1100" dirty="0">
                <a:latin typeface="Tahoma"/>
                <a:cs typeface="Tahoma"/>
              </a:rPr>
              <a:t>Star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enhanced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protection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against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traditional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cyber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attacks.</a:t>
            </a:r>
            <a:endParaRPr sz="1100">
              <a:latin typeface="Tahoma"/>
              <a:cs typeface="Tahoma"/>
            </a:endParaRPr>
          </a:p>
          <a:p>
            <a:pPr marL="299720" marR="118110" indent="-136525">
              <a:lnSpc>
                <a:spcPct val="102600"/>
              </a:lnSpc>
              <a:spcBef>
                <a:spcPts val="1060"/>
              </a:spcBef>
              <a:buClr>
                <a:srgbClr val="0C2659"/>
              </a:buClr>
              <a:buFont typeface="Arial"/>
              <a:buChar char="•"/>
              <a:tabLst>
                <a:tab pos="302260" algn="l"/>
              </a:tabLst>
            </a:pPr>
            <a:r>
              <a:rPr sz="1100" b="1" dirty="0">
                <a:latin typeface="Arial"/>
                <a:cs typeface="Arial"/>
              </a:rPr>
              <a:t>Motivation: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Traditional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encryption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constant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threats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brute </a:t>
            </a:r>
            <a:r>
              <a:rPr sz="1100" spc="-20" dirty="0">
                <a:latin typeface="Tahoma"/>
                <a:cs typeface="Tahoma"/>
              </a:rPr>
              <a:t>force 	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50" dirty="0">
                <a:latin typeface="Tahoma"/>
                <a:cs typeface="Tahoma"/>
              </a:rPr>
              <a:t>frequency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attacks</a:t>
            </a:r>
            <a:endParaRPr sz="1100">
              <a:latin typeface="Tahoma"/>
              <a:cs typeface="Tahoma"/>
            </a:endParaRPr>
          </a:p>
          <a:p>
            <a:pPr marL="299720" marR="43180" indent="-13652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Arial"/>
              <a:buChar char="•"/>
              <a:tabLst>
                <a:tab pos="302260" algn="l"/>
              </a:tabLst>
            </a:pPr>
            <a:r>
              <a:rPr sz="1100" b="1" spc="-30" dirty="0">
                <a:latin typeface="Arial"/>
                <a:cs typeface="Arial"/>
              </a:rPr>
              <a:t>Innovation: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graph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theory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principles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adds</a:t>
            </a:r>
            <a:r>
              <a:rPr sz="1100" spc="-30" dirty="0">
                <a:latin typeface="Tahoma"/>
                <a:cs typeface="Tahoma"/>
              </a:rPr>
              <a:t> mathematical </a:t>
            </a:r>
            <a:r>
              <a:rPr sz="1100" spc="-35" dirty="0">
                <a:latin typeface="Tahoma"/>
                <a:cs typeface="Tahoma"/>
              </a:rPr>
              <a:t>complexity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makes 	decryption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extremely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difficult</a:t>
            </a:r>
            <a:endParaRPr sz="1100">
              <a:latin typeface="Tahoma"/>
              <a:cs typeface="Tahoma"/>
            </a:endParaRPr>
          </a:p>
          <a:p>
            <a:pPr marL="299720" marR="337185" indent="-136525">
              <a:lnSpc>
                <a:spcPct val="102699"/>
              </a:lnSpc>
              <a:spcBef>
                <a:spcPts val="295"/>
              </a:spcBef>
              <a:buClr>
                <a:srgbClr val="0C2659"/>
              </a:buClr>
              <a:buFont typeface="Arial"/>
              <a:buChar char="•"/>
              <a:tabLst>
                <a:tab pos="302260" algn="l"/>
              </a:tabLst>
            </a:pPr>
            <a:r>
              <a:rPr sz="1100" b="1" spc="-25" dirty="0">
                <a:latin typeface="Arial"/>
                <a:cs typeface="Arial"/>
              </a:rPr>
              <a:t>Advantage: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Star</a:t>
            </a:r>
            <a:r>
              <a:rPr sz="1100" spc="-45" dirty="0">
                <a:latin typeface="Tahoma"/>
                <a:cs typeface="Tahoma"/>
              </a:rPr>
              <a:t> graphs provide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simple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yet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powerful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structure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hiding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	</a:t>
            </a:r>
            <a:r>
              <a:rPr sz="1100" spc="-10" dirty="0">
                <a:latin typeface="Tahoma"/>
                <a:cs typeface="Tahoma"/>
              </a:rPr>
              <a:t>relationships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4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05" y="62486"/>
            <a:ext cx="2922905" cy="215444"/>
          </a:xfrm>
        </p:spPr>
        <p:txBody>
          <a:bodyPr/>
          <a:lstStyle/>
          <a:p>
            <a:r>
              <a:rPr lang="en-IN" dirty="0" smtClean="0"/>
              <a:t>Program Structure</a:t>
            </a:r>
            <a:endParaRPr lang="en-IN" dirty="0"/>
          </a:p>
        </p:txBody>
      </p:sp>
      <p:sp>
        <p:nvSpPr>
          <p:cNvPr id="4" name="object 3"/>
          <p:cNvSpPr/>
          <p:nvPr/>
        </p:nvSpPr>
        <p:spPr>
          <a:xfrm>
            <a:off x="205554" y="298197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54" y="327025"/>
            <a:ext cx="5344346" cy="28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8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Encryption</a:t>
            </a:r>
            <a:r>
              <a:rPr spc="45" dirty="0"/>
              <a:t> </a:t>
            </a:r>
            <a:r>
              <a:rPr spc="-45" dirty="0"/>
              <a:t>Process</a:t>
            </a:r>
            <a:r>
              <a:rPr spc="45" dirty="0"/>
              <a:t> </a:t>
            </a:r>
            <a:r>
              <a:rPr spc="60" dirty="0"/>
              <a:t>-</a:t>
            </a:r>
            <a:r>
              <a:rPr spc="45" dirty="0"/>
              <a:t> </a:t>
            </a:r>
            <a:r>
              <a:rPr dirty="0"/>
              <a:t>Step</a:t>
            </a:r>
            <a:r>
              <a:rPr spc="50" dirty="0"/>
              <a:t> </a:t>
            </a:r>
            <a:r>
              <a:rPr dirty="0"/>
              <a:t>by</a:t>
            </a:r>
            <a:r>
              <a:rPr spc="45" dirty="0"/>
              <a:t> </a:t>
            </a:r>
            <a:r>
              <a:rPr spc="-20" dirty="0"/>
              <a:t>Step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451" y="597051"/>
            <a:ext cx="5130165" cy="23126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25730" indent="-177165">
              <a:lnSpc>
                <a:spcPct val="102600"/>
              </a:lnSpc>
              <a:spcBef>
                <a:spcPts val="55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10" dirty="0">
                <a:latin typeface="Arial"/>
                <a:cs typeface="Arial"/>
              </a:rPr>
              <a:t> Setup: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Choose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secret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3-</a:t>
            </a:r>
            <a:r>
              <a:rPr sz="1100" spc="-20" dirty="0">
                <a:latin typeface="Tahoma"/>
                <a:cs typeface="Tahoma"/>
              </a:rPr>
              <a:t>12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determines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encryption </a:t>
            </a:r>
            <a:r>
              <a:rPr sz="1100" spc="-20" dirty="0">
                <a:latin typeface="Tahoma"/>
                <a:cs typeface="Tahoma"/>
              </a:rPr>
              <a:t>table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size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Tahoma"/>
              <a:buAutoNum type="arabicPeriod"/>
              <a:tabLst>
                <a:tab pos="190500" algn="l"/>
              </a:tabLst>
            </a:pPr>
            <a:r>
              <a:rPr sz="1100" b="1" dirty="0">
                <a:latin typeface="Arial"/>
                <a:cs typeface="Arial"/>
              </a:rPr>
              <a:t>Prime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Generation: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Generate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prime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based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</a:t>
            </a:r>
            <a:endParaRPr sz="1100">
              <a:latin typeface="Tahoma"/>
              <a:cs typeface="Tahoma"/>
            </a:endParaRPr>
          </a:p>
          <a:p>
            <a:pPr marL="189230" marR="786130" indent="-177165">
              <a:lnSpc>
                <a:spcPct val="102699"/>
              </a:lnSpc>
              <a:spcBef>
                <a:spcPts val="295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10" dirty="0">
                <a:latin typeface="Arial"/>
                <a:cs typeface="Arial"/>
              </a:rPr>
              <a:t>Table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Creation: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Create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encoding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table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cell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5" dirty="0">
                <a:latin typeface="Tahoma"/>
                <a:cs typeface="Tahoma"/>
              </a:rPr>
              <a:t>letter-</a:t>
            </a:r>
            <a:r>
              <a:rPr sz="1100" spc="-20" dirty="0">
                <a:latin typeface="Tahoma"/>
                <a:cs typeface="Tahoma"/>
              </a:rPr>
              <a:t>position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combination</a:t>
            </a:r>
            <a:endParaRPr sz="1100">
              <a:latin typeface="Tahoma"/>
              <a:cs typeface="Tahoma"/>
            </a:endParaRPr>
          </a:p>
          <a:p>
            <a:pPr marL="189230" marR="84455" indent="-17716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50" dirty="0">
                <a:latin typeface="Arial"/>
                <a:cs typeface="Arial"/>
              </a:rPr>
              <a:t>Message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Mapping: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Convert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 </a:t>
            </a:r>
            <a:r>
              <a:rPr sz="1100" spc="-10" dirty="0">
                <a:latin typeface="Tahoma"/>
                <a:cs typeface="Tahoma"/>
              </a:rPr>
              <a:t>letter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position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(row</a:t>
            </a:r>
            <a:r>
              <a:rPr sz="1100" spc="-45" dirty="0">
                <a:latin typeface="Tahoma"/>
                <a:cs typeface="Tahoma"/>
              </a:rPr>
              <a:t> prime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prime)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Tahoma"/>
              <a:buAutoNum type="arabicPeriod"/>
              <a:tabLst>
                <a:tab pos="190500" algn="l"/>
              </a:tabLst>
            </a:pPr>
            <a:r>
              <a:rPr sz="1100" b="1" dirty="0">
                <a:latin typeface="Arial"/>
                <a:cs typeface="Arial"/>
              </a:rPr>
              <a:t>Vertex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Creation:</a:t>
            </a:r>
            <a:r>
              <a:rPr sz="1100" b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Multiply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</a:t>
            </a:r>
            <a:r>
              <a:rPr sz="1100" spc="-35" dirty="0">
                <a:latin typeface="Tahoma"/>
                <a:cs typeface="Tahoma"/>
              </a:rPr>
              <a:t> column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primes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create </a:t>
            </a:r>
            <a:r>
              <a:rPr sz="1100" spc="-50" dirty="0">
                <a:latin typeface="Tahoma"/>
                <a:cs typeface="Tahoma"/>
              </a:rPr>
              <a:t>unique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labels</a:t>
            </a:r>
            <a:endParaRPr sz="1100">
              <a:latin typeface="Tahoma"/>
              <a:cs typeface="Tahoma"/>
            </a:endParaRPr>
          </a:p>
          <a:p>
            <a:pPr marL="189230" marR="488315" indent="-17716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30" dirty="0">
                <a:latin typeface="Arial"/>
                <a:cs typeface="Arial"/>
              </a:rPr>
              <a:t>Graph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Construction: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Build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central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20" dirty="0">
                <a:latin typeface="Tahoma"/>
                <a:cs typeface="Tahoma"/>
              </a:rPr>
              <a:t>leaf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nodes </a:t>
            </a:r>
            <a:r>
              <a:rPr sz="1100" spc="-25" dirty="0">
                <a:latin typeface="Tahoma"/>
                <a:cs typeface="Tahoma"/>
              </a:rPr>
              <a:t>containing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labels</a:t>
            </a:r>
            <a:endParaRPr sz="1100">
              <a:latin typeface="Tahoma"/>
              <a:cs typeface="Tahoma"/>
            </a:endParaRPr>
          </a:p>
          <a:p>
            <a:pPr marL="189230" marR="241300" indent="-17716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35" dirty="0">
                <a:latin typeface="Arial"/>
                <a:cs typeface="Arial"/>
              </a:rPr>
              <a:t>Edge</a:t>
            </a:r>
            <a:r>
              <a:rPr sz="1100" b="1" spc="-20" dirty="0">
                <a:latin typeface="Arial"/>
                <a:cs typeface="Arial"/>
              </a:rPr>
              <a:t> Weighting: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vertex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mathematical </a:t>
            </a:r>
            <a:r>
              <a:rPr sz="1100" spc="-35" dirty="0">
                <a:latin typeface="Tahoma"/>
                <a:cs typeface="Tahoma"/>
              </a:rPr>
              <a:t>operations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hide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 </a:t>
            </a:r>
            <a:r>
              <a:rPr sz="1100" spc="-20" dirty="0">
                <a:latin typeface="Tahoma"/>
                <a:cs typeface="Tahoma"/>
              </a:rPr>
              <a:t>data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6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98425"/>
            <a:ext cx="203708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u="sng" spc="-20" dirty="0">
                <a:solidFill>
                  <a:srgbClr val="0C2659"/>
                </a:solidFill>
                <a:latin typeface="Arial"/>
                <a:cs typeface="Arial"/>
              </a:rPr>
              <a:t>Encryption</a:t>
            </a:r>
            <a:r>
              <a:rPr sz="1200" b="1" u="sng" spc="40" dirty="0">
                <a:solidFill>
                  <a:srgbClr val="0C2659"/>
                </a:solidFill>
                <a:latin typeface="Arial"/>
                <a:cs typeface="Arial"/>
              </a:rPr>
              <a:t> </a:t>
            </a:r>
            <a:r>
              <a:rPr sz="1200" b="1" u="sng" spc="-20" dirty="0">
                <a:solidFill>
                  <a:srgbClr val="0C2659"/>
                </a:solidFill>
                <a:latin typeface="Arial"/>
                <a:cs typeface="Arial"/>
              </a:rPr>
              <a:t>Visualization</a:t>
            </a:r>
            <a:endParaRPr sz="1200" u="sng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7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19028E-0AB7-709D-9EF0-7080D44460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" t="3167" r="4000" b="3659"/>
          <a:stretch/>
        </p:blipFill>
        <p:spPr>
          <a:xfrm>
            <a:off x="2578100" y="22224"/>
            <a:ext cx="1905000" cy="314739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Decryption</a:t>
            </a:r>
            <a:r>
              <a:rPr spc="35" dirty="0"/>
              <a:t> </a:t>
            </a:r>
            <a:r>
              <a:rPr spc="-45" dirty="0"/>
              <a:t>Process</a:t>
            </a:r>
            <a:r>
              <a:rPr spc="35" dirty="0"/>
              <a:t> </a:t>
            </a:r>
            <a:r>
              <a:rPr spc="60" dirty="0"/>
              <a:t>-</a:t>
            </a:r>
            <a:r>
              <a:rPr spc="35" dirty="0"/>
              <a:t> </a:t>
            </a:r>
            <a:r>
              <a:rPr dirty="0"/>
              <a:t>Step</a:t>
            </a:r>
            <a:r>
              <a:rPr spc="35" dirty="0"/>
              <a:t> </a:t>
            </a:r>
            <a:r>
              <a:rPr dirty="0"/>
              <a:t>by</a:t>
            </a:r>
            <a:r>
              <a:rPr spc="35" dirty="0"/>
              <a:t> </a:t>
            </a:r>
            <a:r>
              <a:rPr spc="-20" dirty="0"/>
              <a:t>Step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4451" y="622107"/>
            <a:ext cx="5066030" cy="21844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434"/>
              </a:spcBef>
              <a:buClr>
                <a:srgbClr val="0C2659"/>
              </a:buClr>
              <a:buFont typeface="Tahoma"/>
              <a:buAutoNum type="arabicPeriod"/>
              <a:tabLst>
                <a:tab pos="190500" algn="l"/>
              </a:tabLst>
            </a:pPr>
            <a:r>
              <a:rPr sz="1100" b="1" spc="-40" dirty="0">
                <a:latin typeface="Arial"/>
                <a:cs typeface="Arial"/>
              </a:rPr>
              <a:t>Receive</a:t>
            </a:r>
            <a:r>
              <a:rPr sz="1100" b="1" spc="-1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Graph: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Obtain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encrypted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star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50" dirty="0">
                <a:latin typeface="Tahoma"/>
                <a:cs typeface="Tahoma"/>
              </a:rPr>
              <a:t> weighted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edges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Tahoma"/>
              <a:buAutoNum type="arabicPeriod"/>
              <a:tabLst>
                <a:tab pos="190500" algn="l"/>
              </a:tabLst>
            </a:pPr>
            <a:r>
              <a:rPr sz="1100" b="1" dirty="0">
                <a:latin typeface="Arial"/>
                <a:cs typeface="Arial"/>
              </a:rPr>
              <a:t>Sort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Weights: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Arrange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proper </a:t>
            </a:r>
            <a:r>
              <a:rPr sz="1100" spc="-55" dirty="0">
                <a:latin typeface="Tahoma"/>
                <a:cs typeface="Tahoma"/>
              </a:rPr>
              <a:t>order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processing</a:t>
            </a:r>
            <a:endParaRPr sz="1100">
              <a:latin typeface="Tahoma"/>
              <a:cs typeface="Tahoma"/>
            </a:endParaRPr>
          </a:p>
          <a:p>
            <a:pPr marL="189230" marR="220345" indent="-177165">
              <a:lnSpc>
                <a:spcPct val="102600"/>
              </a:lnSpc>
              <a:spcBef>
                <a:spcPts val="295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55" dirty="0">
                <a:latin typeface="Arial"/>
                <a:cs typeface="Arial"/>
              </a:rPr>
              <a:t>Reverse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Transformation:</a:t>
            </a:r>
            <a:r>
              <a:rPr sz="1100" b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Apply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reverse</a:t>
            </a:r>
            <a:r>
              <a:rPr sz="1100" spc="-30" dirty="0">
                <a:latin typeface="Tahoma"/>
                <a:cs typeface="Tahoma"/>
              </a:rPr>
              <a:t> mathematical operation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recover </a:t>
            </a:r>
            <a:r>
              <a:rPr sz="1100" spc="-30" dirty="0">
                <a:latin typeface="Tahoma"/>
                <a:cs typeface="Tahoma"/>
              </a:rPr>
              <a:t>original</a:t>
            </a:r>
            <a:r>
              <a:rPr sz="1100" spc="-40" dirty="0">
                <a:latin typeface="Tahoma"/>
                <a:cs typeface="Tahoma"/>
              </a:rPr>
              <a:t> vertex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labels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edge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weights</a:t>
            </a:r>
            <a:endParaRPr sz="1100">
              <a:latin typeface="Tahoma"/>
              <a:cs typeface="Tahom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dirty="0">
                <a:latin typeface="Arial"/>
                <a:cs typeface="Arial"/>
              </a:rPr>
              <a:t>Prime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Factorization: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Break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 vertex </a:t>
            </a:r>
            <a:r>
              <a:rPr sz="1100" spc="-20" dirty="0">
                <a:latin typeface="Tahoma"/>
                <a:cs typeface="Tahoma"/>
              </a:rPr>
              <a:t>label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40" dirty="0">
                <a:latin typeface="Tahoma"/>
                <a:cs typeface="Tahoma"/>
              </a:rPr>
              <a:t> two</a:t>
            </a:r>
            <a:r>
              <a:rPr sz="1100" spc="-45" dirty="0">
                <a:latin typeface="Tahoma"/>
                <a:cs typeface="Tahoma"/>
              </a:rPr>
              <a:t> prime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factors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(row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primes)</a:t>
            </a:r>
            <a:endParaRPr sz="1100">
              <a:latin typeface="Tahoma"/>
              <a:cs typeface="Tahoma"/>
            </a:endParaRPr>
          </a:p>
          <a:p>
            <a:pPr marL="189230" marR="364490" indent="-17716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10" dirty="0">
                <a:latin typeface="Arial"/>
                <a:cs typeface="Arial"/>
              </a:rPr>
              <a:t>Table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Lookup: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Use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prime </a:t>
            </a:r>
            <a:r>
              <a:rPr sz="1100" spc="-30" dirty="0">
                <a:latin typeface="Tahoma"/>
                <a:cs typeface="Tahoma"/>
              </a:rPr>
              <a:t>pairs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locate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corresponding </a:t>
            </a:r>
            <a:r>
              <a:rPr sz="1100" spc="-25" dirty="0">
                <a:latin typeface="Tahoma"/>
                <a:cs typeface="Tahoma"/>
              </a:rPr>
              <a:t>letters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decoding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table</a:t>
            </a:r>
            <a:endParaRPr sz="1100">
              <a:latin typeface="Tahoma"/>
              <a:cs typeface="Tahoma"/>
            </a:endParaRPr>
          </a:p>
          <a:p>
            <a:pPr marL="189230" marR="419734" indent="-177165">
              <a:lnSpc>
                <a:spcPct val="102699"/>
              </a:lnSpc>
              <a:spcBef>
                <a:spcPts val="300"/>
              </a:spcBef>
              <a:buClr>
                <a:srgbClr val="0C2659"/>
              </a:buClr>
              <a:buFont typeface="Tahoma"/>
              <a:buAutoNum type="arabicPeriod"/>
              <a:tabLst>
                <a:tab pos="189230" algn="l"/>
              </a:tabLst>
            </a:pPr>
            <a:r>
              <a:rPr sz="1100" b="1" spc="-50" dirty="0">
                <a:latin typeface="Arial"/>
                <a:cs typeface="Arial"/>
              </a:rPr>
              <a:t>Message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40" dirty="0">
                <a:latin typeface="Arial"/>
                <a:cs typeface="Arial"/>
              </a:rPr>
              <a:t>Reconstruction:</a:t>
            </a:r>
            <a:r>
              <a:rPr sz="1100" b="1" spc="1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Combine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retrieved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letters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original </a:t>
            </a:r>
            <a:r>
              <a:rPr sz="1100" spc="-20" dirty="0">
                <a:latin typeface="Tahoma"/>
                <a:cs typeface="Tahoma"/>
              </a:rPr>
              <a:t>plaintext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message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Tahoma"/>
              <a:buAutoNum type="arabicPeriod"/>
              <a:tabLst>
                <a:tab pos="190500" algn="l"/>
              </a:tabLst>
            </a:pPr>
            <a:r>
              <a:rPr sz="1100" b="1" spc="-25" dirty="0">
                <a:latin typeface="Arial"/>
                <a:cs typeface="Arial"/>
              </a:rPr>
              <a:t>Verification: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Confirm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decrypted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message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matches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original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sent </a:t>
            </a:r>
            <a:r>
              <a:rPr sz="1100" spc="-10" dirty="0">
                <a:latin typeface="Tahoma"/>
                <a:cs typeface="Tahoma"/>
              </a:rPr>
              <a:t>message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64388" y="133055"/>
            <a:ext cx="20554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u="sng" dirty="0"/>
              <a:t>Decryption</a:t>
            </a:r>
            <a:r>
              <a:rPr u="sng" spc="-15" dirty="0"/>
              <a:t> </a:t>
            </a:r>
            <a:r>
              <a:rPr sz="1200" u="sng" spc="-20" dirty="0"/>
              <a:t>Visualization</a:t>
            </a:r>
            <a:endParaRPr u="sng"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EA7A1F-00D8-E1C1-9A94-ED247A1AB6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7" t="2348" r="2618" b="1370"/>
          <a:stretch/>
        </p:blipFill>
        <p:spPr>
          <a:xfrm>
            <a:off x="2730500" y="28321"/>
            <a:ext cx="1611051" cy="314538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Real-</a:t>
            </a:r>
            <a:r>
              <a:rPr spc="-10" dirty="0"/>
              <a:t>World</a:t>
            </a:r>
            <a:r>
              <a:rPr spc="30" dirty="0"/>
              <a:t> </a:t>
            </a:r>
            <a:r>
              <a:rPr spc="-30" dirty="0"/>
              <a:t>Applications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6287" y="615670"/>
            <a:ext cx="5307965" cy="1607185"/>
            <a:chOff x="226287" y="615670"/>
            <a:chExt cx="5307965" cy="1607185"/>
          </a:xfrm>
        </p:grpSpPr>
        <p:sp>
          <p:nvSpPr>
            <p:cNvPr id="5" name="object 5"/>
            <p:cNvSpPr/>
            <p:nvPr/>
          </p:nvSpPr>
          <p:spPr>
            <a:xfrm>
              <a:off x="226287" y="615670"/>
              <a:ext cx="5307965" cy="198755"/>
            </a:xfrm>
            <a:custGeom>
              <a:avLst/>
              <a:gdLst/>
              <a:ahLst/>
              <a:cxnLst/>
              <a:rect l="l" t="t" r="r" b="b"/>
              <a:pathLst>
                <a:path w="5307965" h="198755">
                  <a:moveTo>
                    <a:pt x="525668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307485" y="198367"/>
                  </a:lnTo>
                  <a:lnTo>
                    <a:pt x="5307485" y="50800"/>
                  </a:lnTo>
                  <a:lnTo>
                    <a:pt x="5303476" y="31075"/>
                  </a:lnTo>
                  <a:lnTo>
                    <a:pt x="5292562" y="14922"/>
                  </a:lnTo>
                  <a:lnTo>
                    <a:pt x="5276409" y="4008"/>
                  </a:lnTo>
                  <a:lnTo>
                    <a:pt x="5256684" y="0"/>
                  </a:lnTo>
                  <a:close/>
                </a:path>
              </a:pathLst>
            </a:custGeom>
            <a:solidFill>
              <a:srgbClr val="035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87" y="801382"/>
              <a:ext cx="5307484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287" y="845650"/>
              <a:ext cx="5307965" cy="1377315"/>
            </a:xfrm>
            <a:custGeom>
              <a:avLst/>
              <a:gdLst/>
              <a:ahLst/>
              <a:cxnLst/>
              <a:rect l="l" t="t" r="r" b="b"/>
              <a:pathLst>
                <a:path w="5307965" h="1377314">
                  <a:moveTo>
                    <a:pt x="5307485" y="0"/>
                  </a:moveTo>
                  <a:lnTo>
                    <a:pt x="0" y="0"/>
                  </a:lnTo>
                  <a:lnTo>
                    <a:pt x="0" y="1326379"/>
                  </a:lnTo>
                  <a:lnTo>
                    <a:pt x="4008" y="1346104"/>
                  </a:lnTo>
                  <a:lnTo>
                    <a:pt x="14922" y="1362257"/>
                  </a:lnTo>
                  <a:lnTo>
                    <a:pt x="31075" y="1373171"/>
                  </a:lnTo>
                  <a:lnTo>
                    <a:pt x="50800" y="1377179"/>
                  </a:lnTo>
                  <a:lnTo>
                    <a:pt x="5256684" y="1377179"/>
                  </a:lnTo>
                  <a:lnTo>
                    <a:pt x="5276409" y="1373171"/>
                  </a:lnTo>
                  <a:lnTo>
                    <a:pt x="5292562" y="1362257"/>
                  </a:lnTo>
                  <a:lnTo>
                    <a:pt x="5303476" y="1346104"/>
                  </a:lnTo>
                  <a:lnTo>
                    <a:pt x="5307485" y="1326379"/>
                  </a:lnTo>
                  <a:lnTo>
                    <a:pt x="530748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6287" y="2349347"/>
            <a:ext cx="5307965" cy="594995"/>
            <a:chOff x="226287" y="2349347"/>
            <a:chExt cx="5307965" cy="594995"/>
          </a:xfrm>
        </p:grpSpPr>
        <p:sp>
          <p:nvSpPr>
            <p:cNvPr id="9" name="object 9"/>
            <p:cNvSpPr/>
            <p:nvPr/>
          </p:nvSpPr>
          <p:spPr>
            <a:xfrm>
              <a:off x="226287" y="2349347"/>
              <a:ext cx="5307965" cy="198755"/>
            </a:xfrm>
            <a:custGeom>
              <a:avLst/>
              <a:gdLst/>
              <a:ahLst/>
              <a:cxnLst/>
              <a:rect l="l" t="t" r="r" b="b"/>
              <a:pathLst>
                <a:path w="5307965" h="198755">
                  <a:moveTo>
                    <a:pt x="525668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307485" y="198367"/>
                  </a:lnTo>
                  <a:lnTo>
                    <a:pt x="5307485" y="50800"/>
                  </a:lnTo>
                  <a:lnTo>
                    <a:pt x="5303476" y="31075"/>
                  </a:lnTo>
                  <a:lnTo>
                    <a:pt x="5292562" y="14922"/>
                  </a:lnTo>
                  <a:lnTo>
                    <a:pt x="5276409" y="4008"/>
                  </a:lnTo>
                  <a:lnTo>
                    <a:pt x="5256684" y="0"/>
                  </a:lnTo>
                  <a:close/>
                </a:path>
              </a:pathLst>
            </a:custGeom>
            <a:solidFill>
              <a:srgbClr val="EB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287" y="2535072"/>
              <a:ext cx="5307484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6287" y="2579342"/>
              <a:ext cx="5307965" cy="365125"/>
            </a:xfrm>
            <a:custGeom>
              <a:avLst/>
              <a:gdLst/>
              <a:ahLst/>
              <a:cxnLst/>
              <a:rect l="l" t="t" r="r" b="b"/>
              <a:pathLst>
                <a:path w="5307965" h="365125">
                  <a:moveTo>
                    <a:pt x="5307485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256684" y="364962"/>
                  </a:lnTo>
                  <a:lnTo>
                    <a:pt x="5276409" y="360953"/>
                  </a:lnTo>
                  <a:lnTo>
                    <a:pt x="5292562" y="350039"/>
                  </a:lnTo>
                  <a:lnTo>
                    <a:pt x="5303476" y="333886"/>
                  </a:lnTo>
                  <a:lnTo>
                    <a:pt x="5307485" y="314161"/>
                  </a:lnTo>
                  <a:lnTo>
                    <a:pt x="5307485" y="0"/>
                  </a:lnTo>
                  <a:close/>
                </a:path>
              </a:pathLst>
            </a:custGeom>
            <a:solidFill>
              <a:srgbClr val="F7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6288" y="551865"/>
            <a:ext cx="5146040" cy="23615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Practical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Uses</a:t>
            </a:r>
            <a:r>
              <a:rPr sz="12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Tahoma"/>
                <a:cs typeface="Tahoma"/>
              </a:rPr>
              <a:t>Star</a:t>
            </a:r>
            <a:r>
              <a:rPr sz="12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Tahoma"/>
                <a:cs typeface="Tahoma"/>
              </a:rPr>
              <a:t>Graph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Encryption</a:t>
            </a:r>
            <a:endParaRPr sz="1200">
              <a:latin typeface="Tahoma"/>
              <a:cs typeface="Tahoma"/>
            </a:endParaRPr>
          </a:p>
          <a:p>
            <a:pPr marL="325120" marR="90170" indent="-136525">
              <a:lnSpc>
                <a:spcPct val="102600"/>
              </a:lnSpc>
              <a:spcBef>
                <a:spcPts val="265"/>
              </a:spcBef>
              <a:buClr>
                <a:srgbClr val="0C2659"/>
              </a:buClr>
              <a:buFont typeface="Arial"/>
              <a:buChar char="•"/>
              <a:tabLst>
                <a:tab pos="327660" algn="l"/>
              </a:tabLst>
            </a:pPr>
            <a:r>
              <a:rPr sz="1100" b="1" spc="-35" dirty="0">
                <a:latin typeface="Arial"/>
                <a:cs typeface="Arial"/>
              </a:rPr>
              <a:t>Financial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Transactions:</a:t>
            </a:r>
            <a:r>
              <a:rPr sz="1100" b="1" spc="9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Securing </a:t>
            </a:r>
            <a:r>
              <a:rPr sz="1100" spc="-45" dirty="0">
                <a:latin typeface="Tahoma"/>
                <a:cs typeface="Tahoma"/>
              </a:rPr>
              <a:t>payment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systems</a:t>
            </a:r>
            <a:r>
              <a:rPr sz="1100" spc="-35" dirty="0">
                <a:latin typeface="Tahoma"/>
                <a:cs typeface="Tahoma"/>
              </a:rPr>
              <a:t> and banking </a:t>
            </a:r>
            <a:r>
              <a:rPr sz="1100" spc="-20" dirty="0">
                <a:latin typeface="Tahoma"/>
                <a:cs typeface="Tahoma"/>
              </a:rPr>
              <a:t>data 	</a:t>
            </a:r>
            <a:r>
              <a:rPr sz="1100" spc="-10" dirty="0">
                <a:latin typeface="Tahoma"/>
                <a:cs typeface="Tahoma"/>
              </a:rPr>
              <a:t>transfers</a:t>
            </a:r>
            <a:endParaRPr sz="1100">
              <a:latin typeface="Tahoma"/>
              <a:cs typeface="Tahoma"/>
            </a:endParaRPr>
          </a:p>
          <a:p>
            <a:pPr marL="325120" marR="246379" indent="-13652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Arial"/>
              <a:buChar char="•"/>
              <a:tabLst>
                <a:tab pos="327660" algn="l"/>
              </a:tabLst>
            </a:pPr>
            <a:r>
              <a:rPr sz="1100" b="1" spc="-30" dirty="0">
                <a:latin typeface="Arial"/>
                <a:cs typeface="Arial"/>
              </a:rPr>
              <a:t>Confidential</a:t>
            </a:r>
            <a:r>
              <a:rPr sz="1100" b="1" spc="55" dirty="0">
                <a:latin typeface="Arial"/>
                <a:cs typeface="Arial"/>
              </a:rPr>
              <a:t> </a:t>
            </a:r>
            <a:r>
              <a:rPr sz="1100" b="1" spc="-45" dirty="0">
                <a:latin typeface="Arial"/>
                <a:cs typeface="Arial"/>
              </a:rPr>
              <a:t>Messaging:</a:t>
            </a:r>
            <a:r>
              <a:rPr sz="1100" b="1" spc="12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Protecting </a:t>
            </a:r>
            <a:r>
              <a:rPr sz="1100" spc="-35" dirty="0">
                <a:latin typeface="Tahoma"/>
                <a:cs typeface="Tahoma"/>
              </a:rPr>
              <a:t>sensitive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communications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within 	organizations</a:t>
            </a:r>
            <a:endParaRPr sz="1100">
              <a:latin typeface="Tahoma"/>
              <a:cs typeface="Tahoma"/>
            </a:endParaRPr>
          </a:p>
          <a:p>
            <a:pPr marL="325755" indent="-136525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Arial"/>
              <a:buChar char="•"/>
              <a:tabLst>
                <a:tab pos="325755" algn="l"/>
              </a:tabLst>
            </a:pPr>
            <a:r>
              <a:rPr sz="1100" b="1" spc="-40" dirty="0">
                <a:latin typeface="Arial"/>
                <a:cs typeface="Arial"/>
              </a:rPr>
              <a:t>Command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Systems:</a:t>
            </a:r>
            <a:r>
              <a:rPr sz="1100" b="1" spc="9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Securing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short,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critical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commands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control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systems</a:t>
            </a:r>
            <a:endParaRPr sz="1100">
              <a:latin typeface="Tahoma"/>
              <a:cs typeface="Tahoma"/>
            </a:endParaRPr>
          </a:p>
          <a:p>
            <a:pPr marL="325755" indent="-136525">
              <a:lnSpc>
                <a:spcPct val="100000"/>
              </a:lnSpc>
              <a:spcBef>
                <a:spcPts val="330"/>
              </a:spcBef>
              <a:buClr>
                <a:srgbClr val="0C2659"/>
              </a:buClr>
              <a:buFont typeface="Arial"/>
              <a:buChar char="•"/>
              <a:tabLst>
                <a:tab pos="325755" algn="l"/>
              </a:tabLst>
            </a:pP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Hiding:</a:t>
            </a:r>
            <a:r>
              <a:rPr sz="1100" b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Digital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watermarking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steganography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applications</a:t>
            </a:r>
            <a:endParaRPr sz="1100">
              <a:latin typeface="Tahoma"/>
              <a:cs typeface="Tahoma"/>
            </a:endParaRPr>
          </a:p>
          <a:p>
            <a:pPr marL="3257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25755" algn="l"/>
              </a:tabLst>
            </a:pPr>
            <a:r>
              <a:rPr sz="1100" b="1" spc="-45" dirty="0">
                <a:latin typeface="Arial"/>
                <a:cs typeface="Arial"/>
              </a:rPr>
              <a:t>Keyword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Security:</a:t>
            </a:r>
            <a:r>
              <a:rPr sz="1100" b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Private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keyword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searches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confidential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documents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270"/>
              </a:spcBef>
            </a:pPr>
            <a:r>
              <a:rPr sz="120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20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Advantage</a:t>
            </a:r>
            <a:endParaRPr sz="1200">
              <a:latin typeface="Tahoma"/>
              <a:cs typeface="Tahoma"/>
            </a:endParaRPr>
          </a:p>
          <a:p>
            <a:pPr marL="50800" marR="17780">
              <a:lnSpc>
                <a:spcPct val="102600"/>
              </a:lnSpc>
              <a:spcBef>
                <a:spcPts val="260"/>
              </a:spcBef>
            </a:pPr>
            <a:r>
              <a:rPr sz="1100" spc="-30" dirty="0">
                <a:latin typeface="Tahoma"/>
                <a:cs typeface="Tahoma"/>
              </a:rPr>
              <a:t>Provides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strong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security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short </a:t>
            </a:r>
            <a:r>
              <a:rPr sz="1100" spc="-80" dirty="0">
                <a:latin typeface="Tahoma"/>
                <a:cs typeface="Tahoma"/>
              </a:rPr>
              <a:t>messages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while </a:t>
            </a:r>
            <a:r>
              <a:rPr sz="1100" spc="-30" dirty="0">
                <a:latin typeface="Tahoma"/>
                <a:cs typeface="Tahoma"/>
              </a:rPr>
              <a:t>maintaining </a:t>
            </a:r>
            <a:r>
              <a:rPr sz="1100" spc="-50" dirty="0">
                <a:latin typeface="Tahoma"/>
                <a:cs typeface="Tahoma"/>
              </a:rPr>
              <a:t>reasonable</a:t>
            </a:r>
            <a:r>
              <a:rPr sz="1100" spc="-25" dirty="0">
                <a:latin typeface="Tahoma"/>
                <a:cs typeface="Tahoma"/>
              </a:rPr>
              <a:t> computational </a:t>
            </a:r>
            <a:r>
              <a:rPr sz="1100" spc="-40" dirty="0">
                <a:latin typeface="Tahoma"/>
                <a:cs typeface="Tahoma"/>
              </a:rPr>
              <a:t>efficiency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compared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graph-</a:t>
            </a:r>
            <a:r>
              <a:rPr sz="1100" spc="-45" dirty="0">
                <a:latin typeface="Tahoma"/>
                <a:cs typeface="Tahoma"/>
              </a:rPr>
              <a:t>based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methods.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105" dirty="0"/>
              <a:t> </a:t>
            </a:r>
            <a:r>
              <a:rPr spc="-30" dirty="0"/>
              <a:t>Advantages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Strengths</a:t>
            </a:r>
          </a:p>
          <a:p>
            <a:pPr marL="312420" marR="541020" indent="-13652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Arial"/>
              <a:buChar char="•"/>
              <a:tabLst>
                <a:tab pos="314960" algn="l"/>
              </a:tabLst>
            </a:pPr>
            <a:r>
              <a:rPr sz="1100" b="0" spc="-35" dirty="0">
                <a:solidFill>
                  <a:srgbClr val="00FF00"/>
                </a:solidFill>
                <a:latin typeface="Tahoma"/>
                <a:cs typeface="Tahoma"/>
              </a:rPr>
              <a:t>Enhanced </a:t>
            </a:r>
            <a:r>
              <a:rPr sz="1100" b="0" spc="-25" dirty="0">
                <a:solidFill>
                  <a:srgbClr val="00FF00"/>
                </a:solidFill>
                <a:latin typeface="Tahoma"/>
                <a:cs typeface="Tahoma"/>
              </a:rPr>
              <a:t>Security</a:t>
            </a:r>
            <a:r>
              <a:rPr sz="1100" b="0" spc="-30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spc="-45" dirty="0">
                <a:latin typeface="Tahoma"/>
                <a:cs typeface="Tahoma"/>
              </a:rPr>
              <a:t>through 	</a:t>
            </a:r>
            <a:r>
              <a:rPr sz="1100" b="0" spc="-30" dirty="0">
                <a:latin typeface="Tahoma"/>
                <a:cs typeface="Tahoma"/>
              </a:rPr>
              <a:t>mathematical</a:t>
            </a:r>
            <a:r>
              <a:rPr sz="1100" b="0" spc="-10" dirty="0">
                <a:latin typeface="Tahoma"/>
                <a:cs typeface="Tahoma"/>
              </a:rPr>
              <a:t> complexity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0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b="0" spc="-40" dirty="0">
                <a:solidFill>
                  <a:srgbClr val="00FF00"/>
                </a:solidFill>
                <a:latin typeface="Tahoma"/>
                <a:cs typeface="Tahoma"/>
              </a:rPr>
              <a:t>Resistance</a:t>
            </a:r>
            <a:r>
              <a:rPr sz="1100" b="0" spc="-25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dirty="0">
                <a:latin typeface="Tahoma"/>
                <a:cs typeface="Tahoma"/>
              </a:rPr>
              <a:t>to</a:t>
            </a:r>
            <a:r>
              <a:rPr sz="1100" b="0" spc="-20" dirty="0">
                <a:latin typeface="Tahoma"/>
                <a:cs typeface="Tahoma"/>
              </a:rPr>
              <a:t> </a:t>
            </a:r>
            <a:r>
              <a:rPr sz="1100" b="0" spc="-10" dirty="0">
                <a:latin typeface="Tahoma"/>
                <a:cs typeface="Tahoma"/>
              </a:rPr>
              <a:t>traditional</a:t>
            </a:r>
            <a:r>
              <a:rPr sz="1100" b="0" spc="-20" dirty="0">
                <a:latin typeface="Tahoma"/>
                <a:cs typeface="Tahoma"/>
              </a:rPr>
              <a:t> </a:t>
            </a:r>
            <a:r>
              <a:rPr sz="1100" b="0" spc="-10" dirty="0">
                <a:latin typeface="Tahoma"/>
                <a:cs typeface="Tahoma"/>
              </a:rPr>
              <a:t>attacks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b="0" spc="-20" dirty="0">
                <a:solidFill>
                  <a:srgbClr val="00FF00"/>
                </a:solidFill>
                <a:latin typeface="Tahoma"/>
                <a:cs typeface="Tahoma"/>
              </a:rPr>
              <a:t>Simple</a:t>
            </a:r>
            <a:r>
              <a:rPr sz="1100" b="0" spc="-25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spc="-20" dirty="0">
                <a:solidFill>
                  <a:srgbClr val="00FF00"/>
                </a:solidFill>
                <a:latin typeface="Tahoma"/>
                <a:cs typeface="Tahoma"/>
              </a:rPr>
              <a:t>Structure </a:t>
            </a:r>
            <a:r>
              <a:rPr sz="1100" b="0" spc="-60" dirty="0">
                <a:latin typeface="Tahoma"/>
                <a:cs typeface="Tahoma"/>
              </a:rPr>
              <a:t>easy</a:t>
            </a:r>
            <a:r>
              <a:rPr sz="1100" b="0" spc="-30" dirty="0">
                <a:latin typeface="Tahoma"/>
                <a:cs typeface="Tahoma"/>
              </a:rPr>
              <a:t> </a:t>
            </a:r>
            <a:r>
              <a:rPr sz="1100" b="0" dirty="0">
                <a:latin typeface="Tahoma"/>
                <a:cs typeface="Tahoma"/>
              </a:rPr>
              <a:t>to</a:t>
            </a:r>
            <a:r>
              <a:rPr sz="1100" b="0" spc="-25" dirty="0">
                <a:latin typeface="Tahoma"/>
                <a:cs typeface="Tahoma"/>
              </a:rPr>
              <a:t> </a:t>
            </a:r>
            <a:r>
              <a:rPr sz="1100" b="0" spc="-10" dirty="0">
                <a:latin typeface="Tahoma"/>
                <a:cs typeface="Tahoma"/>
              </a:rPr>
              <a:t>implement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b="0" spc="-30" dirty="0">
                <a:solidFill>
                  <a:srgbClr val="00FF00"/>
                </a:solidFill>
                <a:latin typeface="Tahoma"/>
                <a:cs typeface="Tahoma"/>
              </a:rPr>
              <a:t>Scalable</a:t>
            </a:r>
            <a:r>
              <a:rPr sz="1100" b="0" spc="-25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spc="-20" dirty="0">
                <a:latin typeface="Tahoma"/>
                <a:cs typeface="Tahoma"/>
              </a:rPr>
              <a:t>for </a:t>
            </a:r>
            <a:r>
              <a:rPr sz="1100" b="0" spc="-35" dirty="0">
                <a:latin typeface="Tahoma"/>
                <a:cs typeface="Tahoma"/>
              </a:rPr>
              <a:t>different</a:t>
            </a:r>
            <a:r>
              <a:rPr sz="1100" b="0" spc="-25" dirty="0">
                <a:latin typeface="Tahoma"/>
                <a:cs typeface="Tahoma"/>
              </a:rPr>
              <a:t> </a:t>
            </a:r>
            <a:r>
              <a:rPr sz="1100" b="0" spc="-75" dirty="0">
                <a:latin typeface="Tahoma"/>
                <a:cs typeface="Tahoma"/>
              </a:rPr>
              <a:t>message</a:t>
            </a:r>
            <a:r>
              <a:rPr sz="1100" b="0" spc="-10" dirty="0">
                <a:latin typeface="Tahoma"/>
                <a:cs typeface="Tahoma"/>
              </a:rPr>
              <a:t> sizes</a:t>
            </a:r>
            <a:endParaRPr sz="1100">
              <a:latin typeface="Tahoma"/>
              <a:cs typeface="Tahoma"/>
            </a:endParaRPr>
          </a:p>
          <a:p>
            <a:pPr marL="312420" marR="88900" indent="-136525">
              <a:lnSpc>
                <a:spcPct val="102600"/>
              </a:lnSpc>
              <a:spcBef>
                <a:spcPts val="300"/>
              </a:spcBef>
              <a:buClr>
                <a:srgbClr val="0C2659"/>
              </a:buClr>
              <a:buFont typeface="Arial"/>
              <a:buChar char="•"/>
              <a:tabLst>
                <a:tab pos="314960" algn="l"/>
              </a:tabLst>
            </a:pPr>
            <a:r>
              <a:rPr sz="1100" b="0" dirty="0">
                <a:solidFill>
                  <a:srgbClr val="00FF00"/>
                </a:solidFill>
                <a:latin typeface="Tahoma"/>
                <a:cs typeface="Tahoma"/>
              </a:rPr>
              <a:t>Fast</a:t>
            </a:r>
            <a:r>
              <a:rPr sz="1100" b="0" spc="-10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spc="-35" dirty="0">
                <a:solidFill>
                  <a:srgbClr val="00FF00"/>
                </a:solidFill>
                <a:latin typeface="Tahoma"/>
                <a:cs typeface="Tahoma"/>
              </a:rPr>
              <a:t>Processing</a:t>
            </a:r>
            <a:r>
              <a:rPr sz="1100" b="0" spc="-15" dirty="0">
                <a:solidFill>
                  <a:srgbClr val="00FF00"/>
                </a:solidFill>
                <a:latin typeface="Tahoma"/>
                <a:cs typeface="Tahoma"/>
              </a:rPr>
              <a:t> </a:t>
            </a:r>
            <a:r>
              <a:rPr sz="1100" b="0" spc="-60" dirty="0">
                <a:latin typeface="Tahoma"/>
                <a:cs typeface="Tahoma"/>
              </a:rPr>
              <a:t>compared</a:t>
            </a:r>
            <a:r>
              <a:rPr sz="1100" b="0" spc="-10" dirty="0">
                <a:latin typeface="Tahoma"/>
                <a:cs typeface="Tahoma"/>
              </a:rPr>
              <a:t> </a:t>
            </a:r>
            <a:r>
              <a:rPr sz="1100" b="0" dirty="0">
                <a:latin typeface="Tahoma"/>
                <a:cs typeface="Tahoma"/>
              </a:rPr>
              <a:t>to</a:t>
            </a:r>
            <a:r>
              <a:rPr sz="1100" b="0" spc="-10" dirty="0">
                <a:latin typeface="Tahoma"/>
                <a:cs typeface="Tahoma"/>
              </a:rPr>
              <a:t> </a:t>
            </a:r>
            <a:r>
              <a:rPr sz="1100" b="0" spc="-35" dirty="0">
                <a:latin typeface="Tahoma"/>
                <a:cs typeface="Tahoma"/>
              </a:rPr>
              <a:t>other 	</a:t>
            </a:r>
            <a:r>
              <a:rPr sz="1100" b="0" spc="-45" dirty="0">
                <a:latin typeface="Tahoma"/>
                <a:cs typeface="Tahoma"/>
              </a:rPr>
              <a:t>graph</a:t>
            </a:r>
            <a:r>
              <a:rPr sz="1100" b="0" spc="-10" dirty="0">
                <a:latin typeface="Tahoma"/>
                <a:cs typeface="Tahoma"/>
              </a:rPr>
              <a:t> methods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34258" y="836191"/>
            <a:ext cx="2461260" cy="1285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Characteristics</a:t>
            </a:r>
            <a:endParaRPr sz="1100">
              <a:latin typeface="Arial"/>
              <a:cs typeface="Arial"/>
            </a:endParaRPr>
          </a:p>
          <a:p>
            <a:pPr marL="313055" indent="-136525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spc="-50" dirty="0">
                <a:latin typeface="Tahoma"/>
                <a:cs typeface="Tahoma"/>
              </a:rPr>
              <a:t>Uses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shared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secret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key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0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spc="-25" dirty="0">
                <a:latin typeface="Tahoma"/>
                <a:cs typeface="Tahoma"/>
              </a:rPr>
              <a:t>Based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prime number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properties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spc="-55" dirty="0">
                <a:latin typeface="Tahoma"/>
                <a:cs typeface="Tahoma"/>
              </a:rPr>
              <a:t>Leverages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theory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principles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spc="-25" dirty="0">
                <a:latin typeface="Tahoma"/>
                <a:cs typeface="Tahoma"/>
              </a:rPr>
              <a:t>Suitable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short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messages</a:t>
            </a:r>
            <a:endParaRPr sz="1100">
              <a:latin typeface="Tahoma"/>
              <a:cs typeface="Tahoma"/>
            </a:endParaRPr>
          </a:p>
          <a:p>
            <a:pPr marL="313055" indent="-136525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Arial"/>
              <a:buChar char="•"/>
              <a:tabLst>
                <a:tab pos="313055" algn="l"/>
              </a:tabLst>
            </a:pPr>
            <a:r>
              <a:rPr sz="1100" spc="-20" dirty="0">
                <a:latin typeface="Tahoma"/>
                <a:cs typeface="Tahoma"/>
              </a:rPr>
              <a:t>Balance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security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performance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277088" y="421576"/>
            <a:ext cx="5206365" cy="0"/>
          </a:xfrm>
          <a:custGeom>
            <a:avLst/>
            <a:gdLst/>
            <a:ahLst/>
            <a:cxnLst/>
            <a:rect l="l" t="t" r="r" b="b"/>
            <a:pathLst>
              <a:path w="5206365">
                <a:moveTo>
                  <a:pt x="0" y="0"/>
                </a:moveTo>
                <a:lnTo>
                  <a:pt x="5205818" y="0"/>
                </a:lnTo>
              </a:path>
            </a:pathLst>
          </a:custGeom>
          <a:ln w="5054">
            <a:solidFill>
              <a:srgbClr val="0C26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6287" y="757541"/>
            <a:ext cx="5307965" cy="1263015"/>
            <a:chOff x="226287" y="757541"/>
            <a:chExt cx="5307965" cy="1263015"/>
          </a:xfrm>
        </p:grpSpPr>
        <p:sp>
          <p:nvSpPr>
            <p:cNvPr id="5" name="object 5"/>
            <p:cNvSpPr/>
            <p:nvPr/>
          </p:nvSpPr>
          <p:spPr>
            <a:xfrm>
              <a:off x="226287" y="757541"/>
              <a:ext cx="5307965" cy="198755"/>
            </a:xfrm>
            <a:custGeom>
              <a:avLst/>
              <a:gdLst/>
              <a:ahLst/>
              <a:cxnLst/>
              <a:rect l="l" t="t" r="r" b="b"/>
              <a:pathLst>
                <a:path w="5307965" h="198755">
                  <a:moveTo>
                    <a:pt x="525668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307485" y="198367"/>
                  </a:lnTo>
                  <a:lnTo>
                    <a:pt x="5307485" y="50800"/>
                  </a:lnTo>
                  <a:lnTo>
                    <a:pt x="5303476" y="31075"/>
                  </a:lnTo>
                  <a:lnTo>
                    <a:pt x="5292562" y="14922"/>
                  </a:lnTo>
                  <a:lnTo>
                    <a:pt x="5276409" y="4008"/>
                  </a:lnTo>
                  <a:lnTo>
                    <a:pt x="5256684" y="0"/>
                  </a:lnTo>
                  <a:close/>
                </a:path>
              </a:pathLst>
            </a:custGeom>
            <a:solidFill>
              <a:srgbClr val="035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87" y="943254"/>
              <a:ext cx="5307484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287" y="987531"/>
              <a:ext cx="5307965" cy="1033144"/>
            </a:xfrm>
            <a:custGeom>
              <a:avLst/>
              <a:gdLst/>
              <a:ahLst/>
              <a:cxnLst/>
              <a:rect l="l" t="t" r="r" b="b"/>
              <a:pathLst>
                <a:path w="5307965" h="1033144">
                  <a:moveTo>
                    <a:pt x="5307485" y="0"/>
                  </a:moveTo>
                  <a:lnTo>
                    <a:pt x="0" y="0"/>
                  </a:lnTo>
                  <a:lnTo>
                    <a:pt x="0" y="982225"/>
                  </a:lnTo>
                  <a:lnTo>
                    <a:pt x="4008" y="1001950"/>
                  </a:lnTo>
                  <a:lnTo>
                    <a:pt x="14922" y="1018103"/>
                  </a:lnTo>
                  <a:lnTo>
                    <a:pt x="31075" y="1029017"/>
                  </a:lnTo>
                  <a:lnTo>
                    <a:pt x="50800" y="1033025"/>
                  </a:lnTo>
                  <a:lnTo>
                    <a:pt x="5256684" y="1033025"/>
                  </a:lnTo>
                  <a:lnTo>
                    <a:pt x="5276409" y="1029017"/>
                  </a:lnTo>
                  <a:lnTo>
                    <a:pt x="5292562" y="1018103"/>
                  </a:lnTo>
                  <a:lnTo>
                    <a:pt x="5303476" y="1001950"/>
                  </a:lnTo>
                  <a:lnTo>
                    <a:pt x="5307485" y="982225"/>
                  </a:lnTo>
                  <a:lnTo>
                    <a:pt x="5307485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26287" y="2147074"/>
            <a:ext cx="5307965" cy="584835"/>
            <a:chOff x="226287" y="2147074"/>
            <a:chExt cx="5307965" cy="584835"/>
          </a:xfrm>
        </p:grpSpPr>
        <p:sp>
          <p:nvSpPr>
            <p:cNvPr id="9" name="object 9"/>
            <p:cNvSpPr/>
            <p:nvPr/>
          </p:nvSpPr>
          <p:spPr>
            <a:xfrm>
              <a:off x="226287" y="2147074"/>
              <a:ext cx="5307965" cy="187960"/>
            </a:xfrm>
            <a:custGeom>
              <a:avLst/>
              <a:gdLst/>
              <a:ahLst/>
              <a:cxnLst/>
              <a:rect l="l" t="t" r="r" b="b"/>
              <a:pathLst>
                <a:path w="5307965" h="187960">
                  <a:moveTo>
                    <a:pt x="525668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307485" y="187823"/>
                  </a:lnTo>
                  <a:lnTo>
                    <a:pt x="5307485" y="50800"/>
                  </a:lnTo>
                  <a:lnTo>
                    <a:pt x="5303476" y="31075"/>
                  </a:lnTo>
                  <a:lnTo>
                    <a:pt x="5292562" y="14922"/>
                  </a:lnTo>
                  <a:lnTo>
                    <a:pt x="5276409" y="4008"/>
                  </a:lnTo>
                  <a:lnTo>
                    <a:pt x="5256684" y="0"/>
                  </a:lnTo>
                  <a:close/>
                </a:path>
              </a:pathLst>
            </a:custGeom>
            <a:solidFill>
              <a:srgbClr val="EB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287" y="2322245"/>
              <a:ext cx="5307484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6287" y="2366528"/>
              <a:ext cx="5307965" cy="365125"/>
            </a:xfrm>
            <a:custGeom>
              <a:avLst/>
              <a:gdLst/>
              <a:ahLst/>
              <a:cxnLst/>
              <a:rect l="l" t="t" r="r" b="b"/>
              <a:pathLst>
                <a:path w="5307965" h="365125">
                  <a:moveTo>
                    <a:pt x="5307485" y="0"/>
                  </a:moveTo>
                  <a:lnTo>
                    <a:pt x="0" y="0"/>
                  </a:lnTo>
                  <a:lnTo>
                    <a:pt x="0" y="314161"/>
                  </a:lnTo>
                  <a:lnTo>
                    <a:pt x="4008" y="333886"/>
                  </a:lnTo>
                  <a:lnTo>
                    <a:pt x="14922" y="350039"/>
                  </a:lnTo>
                  <a:lnTo>
                    <a:pt x="31075" y="360953"/>
                  </a:lnTo>
                  <a:lnTo>
                    <a:pt x="50800" y="364962"/>
                  </a:lnTo>
                  <a:lnTo>
                    <a:pt x="5256684" y="364962"/>
                  </a:lnTo>
                  <a:lnTo>
                    <a:pt x="5276409" y="360953"/>
                  </a:lnTo>
                  <a:lnTo>
                    <a:pt x="5292562" y="350039"/>
                  </a:lnTo>
                  <a:lnTo>
                    <a:pt x="5303476" y="333886"/>
                  </a:lnTo>
                  <a:lnTo>
                    <a:pt x="5307485" y="314161"/>
                  </a:lnTo>
                  <a:lnTo>
                    <a:pt x="5307485" y="0"/>
                  </a:lnTo>
                  <a:close/>
                </a:path>
              </a:pathLst>
            </a:custGeom>
            <a:solidFill>
              <a:srgbClr val="F7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0888" y="693723"/>
            <a:ext cx="5282565" cy="20072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endParaRPr sz="12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Encryption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technique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novel </a:t>
            </a:r>
            <a:r>
              <a:rPr sz="1100" spc="-45" dirty="0">
                <a:latin typeface="Tahoma"/>
                <a:cs typeface="Tahoma"/>
              </a:rPr>
              <a:t>approach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security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by:</a:t>
            </a:r>
            <a:endParaRPr sz="1100">
              <a:latin typeface="Tahoma"/>
              <a:cs typeface="Tahoma"/>
            </a:endParaRPr>
          </a:p>
          <a:p>
            <a:pPr marL="351155" indent="-136525">
              <a:lnSpc>
                <a:spcPct val="100000"/>
              </a:lnSpc>
              <a:spcBef>
                <a:spcPts val="334"/>
              </a:spcBef>
              <a:buClr>
                <a:srgbClr val="0C2659"/>
              </a:buClr>
              <a:buFont typeface="Arial"/>
              <a:buChar char="•"/>
              <a:tabLst>
                <a:tab pos="351155" algn="l"/>
              </a:tabLst>
            </a:pPr>
            <a:r>
              <a:rPr sz="1100" spc="-45" dirty="0">
                <a:latin typeface="Tahoma"/>
                <a:cs typeface="Tahoma"/>
              </a:rPr>
              <a:t>Leveraging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properties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prime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numbers</a:t>
            </a:r>
            <a:endParaRPr sz="1100">
              <a:latin typeface="Tahoma"/>
              <a:cs typeface="Tahoma"/>
            </a:endParaRPr>
          </a:p>
          <a:p>
            <a:pPr marL="351155" indent="-136525">
              <a:lnSpc>
                <a:spcPct val="100000"/>
              </a:lnSpc>
              <a:spcBef>
                <a:spcPts val="330"/>
              </a:spcBef>
              <a:buClr>
                <a:srgbClr val="0C2659"/>
              </a:buClr>
              <a:buFont typeface="Arial"/>
              <a:buChar char="•"/>
              <a:tabLst>
                <a:tab pos="351155" algn="l"/>
              </a:tabLst>
            </a:pPr>
            <a:r>
              <a:rPr sz="1100" spc="-25" dirty="0">
                <a:latin typeface="Tahoma"/>
                <a:cs typeface="Tahoma"/>
              </a:rPr>
              <a:t>Creating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complex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relationships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hard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break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key</a:t>
            </a:r>
            <a:endParaRPr sz="1100">
              <a:latin typeface="Tahoma"/>
              <a:cs typeface="Tahoma"/>
            </a:endParaRPr>
          </a:p>
          <a:p>
            <a:pPr marL="3511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51155" algn="l"/>
              </a:tabLst>
            </a:pPr>
            <a:r>
              <a:rPr sz="1100" spc="-30" dirty="0">
                <a:latin typeface="Tahoma"/>
                <a:cs typeface="Tahoma"/>
              </a:rPr>
              <a:t>Offering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practical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20" dirty="0">
                <a:latin typeface="Tahoma"/>
                <a:cs typeface="Tahoma"/>
              </a:rPr>
              <a:t> for </a:t>
            </a:r>
            <a:r>
              <a:rPr sz="1100" spc="-45" dirty="0">
                <a:latin typeface="Tahoma"/>
                <a:cs typeface="Tahoma"/>
              </a:rPr>
              <a:t>real-</a:t>
            </a:r>
            <a:r>
              <a:rPr sz="1100" spc="-50" dirty="0">
                <a:latin typeface="Tahoma"/>
                <a:cs typeface="Tahoma"/>
              </a:rPr>
              <a:t>world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secure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communication</a:t>
            </a:r>
            <a:endParaRPr sz="1100">
              <a:latin typeface="Tahoma"/>
              <a:cs typeface="Tahoma"/>
            </a:endParaRPr>
          </a:p>
          <a:p>
            <a:pPr marL="351155" indent="-136525">
              <a:lnSpc>
                <a:spcPct val="100000"/>
              </a:lnSpc>
              <a:spcBef>
                <a:spcPts val="335"/>
              </a:spcBef>
              <a:buClr>
                <a:srgbClr val="0C2659"/>
              </a:buClr>
              <a:buFont typeface="Arial"/>
              <a:buChar char="•"/>
              <a:tabLst>
                <a:tab pos="351155" algn="l"/>
              </a:tabLst>
            </a:pPr>
            <a:r>
              <a:rPr sz="1100" spc="-10" dirty="0">
                <a:latin typeface="Tahoma"/>
                <a:cs typeface="Tahoma"/>
              </a:rPr>
              <a:t>Maintaining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efficiency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providing</a:t>
            </a:r>
            <a:r>
              <a:rPr sz="1100" spc="-30" dirty="0">
                <a:latin typeface="Tahoma"/>
                <a:cs typeface="Tahoma"/>
              </a:rPr>
              <a:t> strong </a:t>
            </a:r>
            <a:r>
              <a:rPr sz="1100" spc="-10" dirty="0">
                <a:latin typeface="Tahoma"/>
                <a:cs typeface="Tahoma"/>
              </a:rPr>
              <a:t>encryption</a:t>
            </a:r>
            <a:endParaRPr sz="11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1270"/>
              </a:spcBef>
            </a:pPr>
            <a:r>
              <a:rPr sz="1200" spc="-40" dirty="0">
                <a:solidFill>
                  <a:srgbClr val="FFFFFF"/>
                </a:solidFill>
                <a:latin typeface="Tahoma"/>
                <a:cs typeface="Tahoma"/>
              </a:rPr>
              <a:t>Future</a:t>
            </a:r>
            <a:r>
              <a:rPr sz="12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Enhancement</a:t>
            </a:r>
            <a:endParaRPr sz="1200">
              <a:latin typeface="Tahoma"/>
              <a:cs typeface="Tahoma"/>
            </a:endParaRPr>
          </a:p>
          <a:p>
            <a:pPr marL="76200" marR="17780">
              <a:lnSpc>
                <a:spcPct val="102600"/>
              </a:lnSpc>
              <a:spcBef>
                <a:spcPts val="180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method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further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strengthened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combining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public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40" dirty="0">
                <a:latin typeface="Tahoma"/>
                <a:cs typeface="Tahoma"/>
              </a:rPr>
              <a:t> cryptography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 </a:t>
            </a:r>
            <a:r>
              <a:rPr sz="1100" spc="-35" dirty="0">
                <a:latin typeface="Tahoma"/>
                <a:cs typeface="Tahoma"/>
              </a:rPr>
              <a:t>implementing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 </a:t>
            </a:r>
            <a:r>
              <a:rPr sz="1100" spc="-50" dirty="0">
                <a:latin typeface="Tahoma"/>
                <a:cs typeface="Tahoma"/>
              </a:rPr>
              <a:t>various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programming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environments.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5497" y="983042"/>
            <a:ext cx="160972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>
                <a:solidFill>
                  <a:srgbClr val="000000"/>
                </a:solidFill>
              </a:rPr>
              <a:t>Thank</a:t>
            </a:r>
            <a:r>
              <a:rPr sz="2450" spc="150" dirty="0">
                <a:solidFill>
                  <a:srgbClr val="000000"/>
                </a:solidFill>
              </a:rPr>
              <a:t> </a:t>
            </a:r>
            <a:r>
              <a:rPr sz="2450" spc="-65" dirty="0">
                <a:solidFill>
                  <a:srgbClr val="000000"/>
                </a:solidFill>
              </a:rPr>
              <a:t>You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2529585" y="1503144"/>
            <a:ext cx="7010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Questions?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C265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520</Words>
  <Application>Microsoft Office PowerPoint</Application>
  <PresentationFormat>Custom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Tahoma</vt:lpstr>
      <vt:lpstr>Tomorrow</vt:lpstr>
      <vt:lpstr>Office Theme</vt:lpstr>
      <vt:lpstr>Secure Data Transfer using Star Graph Encryption A Novel Graph Theory Based Approach</vt:lpstr>
      <vt:lpstr>Overview</vt:lpstr>
      <vt:lpstr>Motivation</vt:lpstr>
      <vt:lpstr>Aim</vt:lpstr>
      <vt:lpstr>Program Structure</vt:lpstr>
      <vt:lpstr>Encryption Process - Step by Step</vt:lpstr>
      <vt:lpstr>PowerPoint Presentation</vt:lpstr>
      <vt:lpstr>Decryption Process - Step by Step</vt:lpstr>
      <vt:lpstr>Decryption Visualization</vt:lpstr>
      <vt:lpstr>Real-World Applications</vt:lpstr>
      <vt:lpstr>Key Advantages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Data Transfer using Star Graph Encryption - A Novel Graph Theory Based Approach</dc:title>
  <dc:creator>Presented By  Raghav Kumar (23BIT073)  Monil Babariya (23BIT074)  Harshal Gondaliya (23BIT077)  Om Rana (23BIT080)</dc:creator>
  <cp:lastModifiedBy>samir kumar</cp:lastModifiedBy>
  <cp:revision>3</cp:revision>
  <dcterms:created xsi:type="dcterms:W3CDTF">2025-11-06T15:47:34Z</dcterms:created>
  <dcterms:modified xsi:type="dcterms:W3CDTF">2025-11-06T21:46:15Z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2025-11-06T00:00:00Z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